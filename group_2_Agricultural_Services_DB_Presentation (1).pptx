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16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91440"/>
            <a:ext cx="2926080" cy="292608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20040"/>
            <a:ext cx="3474720" cy="411480"/>
          </a:xfrm>
          <a:prstGeom prst="rect">
            <a:avLst/>
          </a:prstGeom>
          <a:solidFill>
            <a:srgbClr val="D4A017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0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MINISTRY OF AGRICULTURE | UGANDA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Agricultural Services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Growers Management System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— Database Programming Course | Academic Year 2024/2025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22A1F"/>
          </a:solidFill>
          <a:ln w="12700">
            <a:solidFill>
              <a:srgbClr val="122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Team of 6  ·  S24B23 &amp; M24B23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28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82880" y="868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920240"/>
            <a:ext cx="2651760" cy="64008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9202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2697480"/>
            <a:ext cx="2651760" cy="64008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2697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474720"/>
            <a:ext cx="2651760" cy="64008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34747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34440" y="3474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4251960"/>
            <a:ext cx="2651760" cy="64008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34440" y="42519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383280" y="86868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868680"/>
            <a:ext cx="64008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118872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Uganda's coffee sector is a major income source for thousands of smallholder farmers. The Ministry of Agriculture tasked our team to design and implement a database system to manage farmer records, track production, coordinate input distribution, and monitor extension workers in the field.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290779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detailed coffee farmer profiles with location &amp; farm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438144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3319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coffee production per farmer, variety, and across seasons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968496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38496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 and distribution of seedlings and agricultural inputs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4498848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43799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farm visits and advisory sessions by extension workers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290779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farmer support requests from submission through to resolution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3438144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3319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data security via role-based access control (4 roles)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3968496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38496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routine operations using stored procedures and triggers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System Scope &amp; Requirements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54480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👨‍🌾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1554480" cy="1554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1920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188720"/>
            <a:ext cx="1554480" cy="1554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49040" y="1920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188720"/>
            <a:ext cx="1554480" cy="1554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👷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86400" y="1920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1188720"/>
            <a:ext cx="1554480" cy="155448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325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🆘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23760" y="1920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2880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Summary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246120"/>
            <a:ext cx="859536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461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FR1–FR4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3246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Management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80360" y="32461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update, deactivate, link to location, search by NIN/name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478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FR5–FR6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35478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80360" y="35478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per farmer/season/variety; compare trends across seasons/regions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849624"/>
            <a:ext cx="859536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84962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FR7–FR8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80160" y="38496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80360" y="384962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 of seedlings &amp; inputs; record distributions with dates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151376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1513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FR9–FR10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1513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Workers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80360" y="415137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worker profiles &amp; district assignments; record farm visits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453128"/>
            <a:ext cx="859536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4531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80160" y="445312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80360" y="445312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support requests from submission through to resolution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754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80160" y="4754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80360" y="47548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on production, distribution, and open requests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 rot="16200000">
            <a:off x="-192024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EER Model &amp; Entities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777240"/>
            <a:ext cx="40233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777240"/>
            <a:ext cx="402336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Supertype — Disjoint Specialisation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1234440"/>
            <a:ext cx="109728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261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43560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grower, NIN-identified, farm info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1764792"/>
            <a:ext cx="109728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7922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WORKER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19659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officer, assigned to one district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2295144"/>
            <a:ext cx="109728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322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STAFF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4963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admin with system privileges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777240"/>
            <a:ext cx="3840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777240"/>
            <a:ext cx="38404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777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INPUT_ITEM — Overlapping Specialisation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234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1463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Variety, nursery, age details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0" y="12344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AGRIC_INPUT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1463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Fertiliser/pesticide, manufacturer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4920" y="170992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An item can exist in BOTH subtypes simultaneously (overlapping)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3429000"/>
            <a:ext cx="3931920" cy="438912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4290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FARMER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51760" y="3520440"/>
            <a:ext cx="6858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5204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34290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becomes exactly one farmer record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3931920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931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→ PRODUCTION_RECORD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51760" y="4023360"/>
            <a:ext cx="6858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40233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83280" y="39319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farmer can have many seasonal production records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4434840"/>
            <a:ext cx="3931920" cy="438912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4348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EXTENSION_WORKER → DISTRICT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51760" y="4526280"/>
            <a:ext cx="6858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4526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83280" y="443484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assigned to exactly one district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3429000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4290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66560" y="3520440"/>
            <a:ext cx="6858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35204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M:N:M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98080" y="34290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farmer, item, and worker in a single transaction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3931920"/>
            <a:ext cx="3931920" cy="438912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3931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→ DISTRICT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4023360"/>
            <a:ext cx="6858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0233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98080" y="39319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locations/villages belong to one district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Database Implementation — 15 Tables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16002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48132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56816" y="1143000"/>
            <a:ext cx="16002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56816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56816" y="148132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update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delete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30752" y="1143000"/>
            <a:ext cx="16002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30752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30752" y="148132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NINs, phones,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names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04688" y="1143000"/>
            <a:ext cx="16002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04688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04688" y="148132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size &gt;0,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NIN=14 chars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78624" y="1143000"/>
            <a:ext cx="16002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78624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78624" y="148132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status,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tenure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2128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Summary (15 Tables, ~61 Sample Records)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2606040"/>
            <a:ext cx="4297680" cy="320040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606040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01368" y="2679192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01368" y="26791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4884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UNIQUE(district_name)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2944368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944368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29443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01368" y="3017520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1368" y="30175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148840" y="29443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FK(district_id)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282696"/>
            <a:ext cx="4297680" cy="320040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282696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32826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coffee_variety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01368" y="3355848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01368" y="33558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148840" y="32826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UNIQUE(variety_name)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3621024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3621024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" y="36210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801368" y="3694176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01368" y="36941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148840" y="362102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UNIQUE, CHECK(end&gt;start)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" y="3959352"/>
            <a:ext cx="4297680" cy="320040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3959352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" y="39593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01368" y="4032504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01368" y="40325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148840" y="3959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UNIQUE(NIN), UNIQUE(phone)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8600" y="4297680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4297680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801368" y="4370832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01368" y="43708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148840" y="4297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UNIQUE, CHECK(size&gt;0)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28600" y="4636008"/>
            <a:ext cx="4297680" cy="320040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" y="4636008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" y="46360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extension_worker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801368" y="4709160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01368" y="47091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148840" y="46360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UNIQUE(person_id)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28600" y="4974336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8600" y="4974336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8328" y="49743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ministry_staff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801368" y="5047488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01368" y="50474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148840" y="497433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UNIQUE(person_id)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54880" y="2606040"/>
            <a:ext cx="4297680" cy="320040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54880" y="2606040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64608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input_item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327648" y="2679192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27648" y="26791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67512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UNIQUE(item_name), CHECK(stock≥0)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754880" y="2944368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0" y="2944368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64608" y="29443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seedling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327648" y="3017520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27648" y="30175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675120" y="29443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FK(item_id), FK(variety_id)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754880" y="3282696"/>
            <a:ext cx="4297680" cy="320040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54880" y="3282696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64608" y="32826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agric_input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327648" y="3355848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27648" y="33558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675120" y="32826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FK(item_id)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754880" y="3621024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54880" y="3621024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64608" y="36210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production_record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327648" y="3694176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27648" y="36941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675120" y="362102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FK×3, UNIQUE, CHECK(qty&gt;0)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54880" y="3959352"/>
            <a:ext cx="4297680" cy="320040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0" y="3959352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64608" y="39593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327648" y="4032504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27648" y="40325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675120" y="3959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FK×4, CHECK(qty&gt;0)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754880" y="4297680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4880" y="4297680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64608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farm_visit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327648" y="4370832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27648" y="43708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6675120" y="4297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FK×2, CHECK(date≤today)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754880" y="4636008"/>
            <a:ext cx="4297680" cy="320040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636008"/>
            <a:ext cx="4572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64608" y="46360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support_request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327648" y="4709160"/>
            <a:ext cx="27432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327648" y="47091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6675120" y="46360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FK×2, CHECK(resolved≥raised)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Security, Views &amp; Access Control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685800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685800"/>
            <a:ext cx="39319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85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Views (5)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115568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1155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vw_farmer_profile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12801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farmer info — NIN &amp; DOB hidden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1499616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4996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vw_production_summary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166420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harvest data for Ministry reporting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83664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8836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vw_worker_activity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204825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Visit, distribution &amp; request counts per worker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2267712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26771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vw_stock_levels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243230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with auto-calculated: Out/Low/Sufficient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2651760"/>
            <a:ext cx="73152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6517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vw_open_requests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281635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requests with days-open counter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68580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685800"/>
            <a:ext cx="4114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6858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Privileges (4)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115568"/>
            <a:ext cx="100584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1155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agric_admin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131673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97880" y="111556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PRIVILEGES + GRANT OPTION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1591056"/>
            <a:ext cx="10058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5910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ministry_officer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17922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97880" y="1591056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limited UPDATE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066544"/>
            <a:ext cx="100584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0665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extension_user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46320" y="22677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Worker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97880" y="206654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views, INSERT visits &amp; dist., UPDATE requests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542032"/>
            <a:ext cx="1005840" cy="38404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5420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readonly_user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0" y="27432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97880" y="254203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 views only — no raw tables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" y="3246120"/>
            <a:ext cx="8275320" cy="1691640"/>
          </a:xfrm>
          <a:prstGeom prst="rect">
            <a:avLst/>
          </a:prstGeom>
          <a:solidFill>
            <a:srgbClr val="122A1F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296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 Strategy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77240" y="3730752"/>
            <a:ext cx="128016" cy="12801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8408" y="36850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mysqldump backup at 2:00 AM daily via cron (Linux) / Task Scheduler (Windows)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77240" y="3959352"/>
            <a:ext cx="128016" cy="12801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" y="39136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7 daily + 4 weekly + 12 monthly backups maintained at all times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77240" y="4187952"/>
            <a:ext cx="128016" cy="12801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8408" y="41422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Offsite storage: separate physical drive + Google Drive upload for redundancy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7240" y="4416552"/>
            <a:ext cx="128016" cy="12801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8408" y="43708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recovery tests by restoring to a test database to verify usability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77240" y="4645152"/>
            <a:ext cx="128016" cy="12801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8408" y="45994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In-MySQL snapshot tables (farmer_backup, production_record_backup) for quick rollbacks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Automation — Stored Procedures &amp; Triggers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(5)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438912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54864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sp_register_farmer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2821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person+farmer atomically; full validation before insert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11680"/>
            <a:ext cx="54864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1168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sp_record_production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23113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and saves harvest record; blocks duplicates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023360" cy="438912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14600"/>
            <a:ext cx="54864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1460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sp_distribute_item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73405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stock, records distribution, deducts inventory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17520"/>
            <a:ext cx="54864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1752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sp_farmer_report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23697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4 result sets: profile, production, items received, open requests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4023360" cy="438912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20440"/>
            <a:ext cx="54864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2044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sp_resolve_request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73989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request resolved; auto-sets resolution date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1143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(8)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17720" y="1508760"/>
            <a:ext cx="4297680" cy="521208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508760"/>
            <a:ext cx="54864" cy="521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572768"/>
            <a:ext cx="105156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57276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870448" y="150876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trg_disjoint_farmer/worker/staff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1810512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if person already in another subtype (×3)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2093976"/>
            <a:ext cx="4297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2093976"/>
            <a:ext cx="54864" cy="521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157984"/>
            <a:ext cx="105156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15798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870448" y="209397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trg_check_stock_before_distribution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2395728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distribution when insufficient stock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2679192"/>
            <a:ext cx="4297680" cy="521208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2679192"/>
            <a:ext cx="54864" cy="521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743200"/>
            <a:ext cx="105156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7432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870448" y="267919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trg_deduct_stock_on_distribution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2980944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Auto-reduces stock count after distribution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3264408"/>
            <a:ext cx="4297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3264408"/>
            <a:ext cx="54864" cy="521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328416"/>
            <a:ext cx="105156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32841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UPDATE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870448" y="326440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trg_auto_resolve_date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54880" y="3566160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date_resolved when status → Resolved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3849624"/>
            <a:ext cx="4297680" cy="521208"/>
          </a:xfrm>
          <a:prstGeom prst="rect">
            <a:avLst/>
          </a:prstGeom>
          <a:solidFill>
            <a:srgbClr val="EDF7F1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3849624"/>
            <a:ext cx="54864" cy="521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3913632"/>
            <a:ext cx="105156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91363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70448" y="384962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trg_audit_production_update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754880" y="4151376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all quantity changes to audit_production_log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17720" y="4434840"/>
            <a:ext cx="4297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17720" y="4434840"/>
            <a:ext cx="54864" cy="5212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0" y="4498848"/>
            <a:ext cx="105156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449884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DELETE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870448" y="443484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trg_prevent_active_farmer_delete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754880" y="4736592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deletion of any active farmer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Validation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91440"/>
            <a:ext cx="18288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0" y="91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32320" y="621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PASSED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133502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33502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49808" y="11887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3898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farmer with duplicate NIN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554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Duplicate NIN error raised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18288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197510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97510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49808" y="182880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20299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same person under two subtypes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21945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Already registered as Farmer error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246888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261518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61518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" y="246888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26700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item with insufficient stock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28346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Insufficient stock error raised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310896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325526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25526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49808" y="31089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3310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production record with quantity = 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" y="34747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 constraint violation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374904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06240" y="389534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389534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49808" y="374904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" y="39502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production record same season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41148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Unique constraint violation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" y="4389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06240" y="453542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453542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49808" y="43891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" y="45902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 active farmer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" y="47548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Cannot delete active farmer error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92040" y="11887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58200" y="133502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133502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001768" y="11887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01768" y="13898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production quantity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01768" y="1554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Audit log entry created automatically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92040" y="18288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58200" y="197510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58200" y="197510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001768" y="182880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01768" y="20299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 support request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01768" y="21945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Status updated, date_resolved set to today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92040" y="246888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458200" y="261518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58200" y="261518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01768" y="246888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9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01768" y="26700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sp_farmer_report(1)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01768" y="28346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result sets returned correctly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892040" y="310896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458200" y="325526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58200" y="325526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001768" y="31089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001768" y="3310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vw_stock_levels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01768" y="34747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Stock status: Low/Sufficient calculated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892040" y="374904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458200" y="389534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58200" y="389534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001768" y="374904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11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001768" y="39502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readonly_user queries raw tables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01768" y="41148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Access denied on all raw tables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92040" y="4389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8458200" y="4535424"/>
            <a:ext cx="384048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58200" y="453542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001768" y="43891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12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001768" y="45902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extension_user inserts farm_visit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001768" y="47548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Record inserted successfully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2926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2062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Milestones Met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325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project milestones completed and all 12/12 test cases passed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42062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659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Security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roles with views protecting sensitive data; minimal privilege enforced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2062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triggers &amp; 5 stored procedures handle stock, audit trails, and enforce rules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005840"/>
            <a:ext cx="393192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0058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EER 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0" y="1325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&amp; overlapping specialisation correctly implemented with integrity triggers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965960"/>
            <a:ext cx="393192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9659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71500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50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strategy, recovery plan, and in-MySQL snapshots ensure data safety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D2218"/>
          </a:solidFill>
          <a:ln w="12700">
            <a:solidFill>
              <a:srgbClr val="0D22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97680"/>
            <a:ext cx="859536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Beinomujuni P.B. · Mutebi Jonah M. · Mwonge Andrea · Ntumwa Raymond · Bukenya Jawadhu K. · Mabiei Malual M.A.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02b  Design Assumptions</a:t>
            </a:r>
          </a:p>
        </p:txBody>
      </p:sp>
      <p:sp>
        <p:nvSpPr>
          <p:cNvPr id="20" name="SectionLabel"/>
          <p:cNvSpPr/>
          <p:nvPr/>
        </p:nvSpPr>
        <p:spPr>
          <a:xfrm>
            <a:off x="274320" y="1070000"/>
            <a:ext cx="859536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</a:rPr>
              <a:t>Assumptions Summary</a:t>
            </a:r>
          </a:p>
        </p:txBody>
      </p:sp>
      <p:sp>
        <p:nvSpPr>
          <p:cNvPr id="101" name="Row1Bg"/>
          <p:cNvSpPr/>
          <p:nvPr/>
        </p:nvSpPr>
        <p:spPr>
          <a:xfrm>
            <a:off x="274320" y="1410000"/>
            <a:ext cx="8595360" cy="5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R1Tag"/>
          <p:cNvSpPr/>
          <p:nvPr/>
        </p:nvSpPr>
        <p:spPr>
          <a:xfrm>
            <a:off x="320040" y="1410000"/>
            <a:ext cx="68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</a:rPr>
              <a:t>A1</a:t>
            </a:r>
          </a:p>
        </p:txBody>
      </p:sp>
      <p:sp>
        <p:nvSpPr>
          <p:cNvPr id="103" name="R1Cat"/>
          <p:cNvSpPr/>
          <p:nvPr/>
        </p:nvSpPr>
        <p:spPr>
          <a:xfrm>
            <a:off x="1050000" y="1410000"/>
            <a:ext cx="185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</a:rPr>
              <a:t>Geography</a:t>
            </a:r>
          </a:p>
        </p:txBody>
      </p:sp>
      <p:sp>
        <p:nvSpPr>
          <p:cNvPr id="104" name="R1Desc"/>
          <p:cNvSpPr/>
          <p:nvPr/>
        </p:nvSpPr>
        <p:spPr>
          <a:xfrm>
            <a:off x="2950000" y="1410000"/>
            <a:ext cx="587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</a:rPr>
              <a:t>Uganda’s administrative hierarchy (village → sub-county → county → district) is the geographic structure</a:t>
            </a:r>
          </a:p>
        </p:txBody>
      </p:sp>
      <p:sp>
        <p:nvSpPr>
          <p:cNvPr id="111" name="Row2Bg"/>
          <p:cNvSpPr/>
          <p:nvPr/>
        </p:nvSpPr>
        <p:spPr>
          <a:xfrm>
            <a:off x="274320" y="1948000"/>
            <a:ext cx="859536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2" name="R2Tag"/>
          <p:cNvSpPr/>
          <p:nvPr/>
        </p:nvSpPr>
        <p:spPr>
          <a:xfrm>
            <a:off x="320040" y="1948000"/>
            <a:ext cx="68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</a:rPr>
              <a:t>A2</a:t>
            </a:r>
          </a:p>
        </p:txBody>
      </p:sp>
      <p:sp>
        <p:nvSpPr>
          <p:cNvPr id="113" name="R2Cat"/>
          <p:cNvSpPr/>
          <p:nvPr/>
        </p:nvSpPr>
        <p:spPr>
          <a:xfrm>
            <a:off x="1050000" y="1948000"/>
            <a:ext cx="185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</a:rPr>
              <a:t>Identity</a:t>
            </a:r>
          </a:p>
        </p:txBody>
      </p:sp>
      <p:sp>
        <p:nvSpPr>
          <p:cNvPr id="114" name="R2Desc"/>
          <p:cNvSpPr/>
          <p:nvPr/>
        </p:nvSpPr>
        <p:spPr>
          <a:xfrm>
            <a:off x="2950000" y="1948000"/>
            <a:ext cx="587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</a:rPr>
              <a:t>Every farmer is uniquely identified by their 14-character National Identification Number (NIN)</a:t>
            </a:r>
          </a:p>
        </p:txBody>
      </p:sp>
      <p:sp>
        <p:nvSpPr>
          <p:cNvPr id="121" name="Row3Bg"/>
          <p:cNvSpPr/>
          <p:nvPr/>
        </p:nvSpPr>
        <p:spPr>
          <a:xfrm>
            <a:off x="274320" y="2486000"/>
            <a:ext cx="8595360" cy="5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2" name="R3Tag"/>
          <p:cNvSpPr/>
          <p:nvPr/>
        </p:nvSpPr>
        <p:spPr>
          <a:xfrm>
            <a:off x="320040" y="2486000"/>
            <a:ext cx="68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</a:rPr>
              <a:t>A3</a:t>
            </a:r>
          </a:p>
        </p:txBody>
      </p:sp>
      <p:sp>
        <p:nvSpPr>
          <p:cNvPr id="123" name="R3Cat"/>
          <p:cNvSpPr/>
          <p:nvPr/>
        </p:nvSpPr>
        <p:spPr>
          <a:xfrm>
            <a:off x="1050000" y="2486000"/>
            <a:ext cx="185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</a:rPr>
              <a:t>Production</a:t>
            </a:r>
          </a:p>
        </p:txBody>
      </p:sp>
      <p:sp>
        <p:nvSpPr>
          <p:cNvPr id="124" name="R3Desc"/>
          <p:cNvSpPr/>
          <p:nvPr/>
        </p:nvSpPr>
        <p:spPr>
          <a:xfrm>
            <a:off x="2950000" y="2486000"/>
            <a:ext cx="587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</a:rPr>
              <a:t>A farmer grows one coffee variety per season per production record</a:t>
            </a:r>
          </a:p>
        </p:txBody>
      </p:sp>
      <p:sp>
        <p:nvSpPr>
          <p:cNvPr id="131" name="Row4Bg"/>
          <p:cNvSpPr/>
          <p:nvPr/>
        </p:nvSpPr>
        <p:spPr>
          <a:xfrm>
            <a:off x="274320" y="3024000"/>
            <a:ext cx="859536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2" name="R4Tag"/>
          <p:cNvSpPr/>
          <p:nvPr/>
        </p:nvSpPr>
        <p:spPr>
          <a:xfrm>
            <a:off x="320040" y="3024000"/>
            <a:ext cx="68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</a:rPr>
              <a:t>A4</a:t>
            </a:r>
          </a:p>
        </p:txBody>
      </p:sp>
      <p:sp>
        <p:nvSpPr>
          <p:cNvPr id="133" name="R4Cat"/>
          <p:cNvSpPr/>
          <p:nvPr/>
        </p:nvSpPr>
        <p:spPr>
          <a:xfrm>
            <a:off x="1050000" y="3024000"/>
            <a:ext cx="185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</a:rPr>
              <a:t>Extension Workers</a:t>
            </a:r>
          </a:p>
        </p:txBody>
      </p:sp>
      <p:sp>
        <p:nvSpPr>
          <p:cNvPr id="134" name="R4Desc"/>
          <p:cNvSpPr/>
          <p:nvPr/>
        </p:nvSpPr>
        <p:spPr>
          <a:xfrm>
            <a:off x="2950000" y="3024000"/>
            <a:ext cx="587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</a:rPr>
              <a:t>Each extension worker is assigned to exactly one district</a:t>
            </a:r>
          </a:p>
        </p:txBody>
      </p:sp>
      <p:sp>
        <p:nvSpPr>
          <p:cNvPr id="141" name="Row5Bg"/>
          <p:cNvSpPr/>
          <p:nvPr/>
        </p:nvSpPr>
        <p:spPr>
          <a:xfrm>
            <a:off x="274320" y="3562000"/>
            <a:ext cx="8595360" cy="5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2" name="R5Tag"/>
          <p:cNvSpPr/>
          <p:nvPr/>
        </p:nvSpPr>
        <p:spPr>
          <a:xfrm>
            <a:off x="320040" y="3562000"/>
            <a:ext cx="68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</a:rPr>
              <a:t>A5</a:t>
            </a:r>
          </a:p>
        </p:txBody>
      </p:sp>
      <p:sp>
        <p:nvSpPr>
          <p:cNvPr id="143" name="R5Cat"/>
          <p:cNvSpPr/>
          <p:nvPr/>
        </p:nvSpPr>
        <p:spPr>
          <a:xfrm>
            <a:off x="1050000" y="3562000"/>
            <a:ext cx="185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</a:rPr>
              <a:t>Person Subtypes</a:t>
            </a:r>
          </a:p>
        </p:txBody>
      </p:sp>
      <p:sp>
        <p:nvSpPr>
          <p:cNvPr id="144" name="R5Desc"/>
          <p:cNvSpPr/>
          <p:nvPr/>
        </p:nvSpPr>
        <p:spPr>
          <a:xfrm>
            <a:off x="2950000" y="3562000"/>
            <a:ext cx="587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</a:rPr>
              <a:t>A person belongs to only one subtype at a time — Farmer, Extension Worker, or Ministry Staff (disjoint)</a:t>
            </a:r>
          </a:p>
        </p:txBody>
      </p:sp>
      <p:sp>
        <p:nvSpPr>
          <p:cNvPr id="151" name="Row6Bg"/>
          <p:cNvSpPr/>
          <p:nvPr/>
        </p:nvSpPr>
        <p:spPr>
          <a:xfrm>
            <a:off x="274320" y="4100000"/>
            <a:ext cx="859536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2" name="R6Tag"/>
          <p:cNvSpPr/>
          <p:nvPr/>
        </p:nvSpPr>
        <p:spPr>
          <a:xfrm>
            <a:off x="320040" y="4100000"/>
            <a:ext cx="68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</a:rPr>
              <a:t>A6</a:t>
            </a:r>
          </a:p>
        </p:txBody>
      </p:sp>
      <p:sp>
        <p:nvSpPr>
          <p:cNvPr id="153" name="R6Cat"/>
          <p:cNvSpPr/>
          <p:nvPr/>
        </p:nvSpPr>
        <p:spPr>
          <a:xfrm>
            <a:off x="1050000" y="4100000"/>
            <a:ext cx="185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</a:rPr>
              <a:t>Eligibility</a:t>
            </a:r>
          </a:p>
        </p:txBody>
      </p:sp>
      <p:sp>
        <p:nvSpPr>
          <p:cNvPr id="154" name="R6Desc"/>
          <p:cNvSpPr/>
          <p:nvPr/>
        </p:nvSpPr>
        <p:spPr>
          <a:xfrm>
            <a:off x="2950000" y="4100000"/>
            <a:ext cx="58700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</a:rPr>
              <a:t>Only active and registered farmers are eligible to receive seedlings and agricultural inputs</a:t>
            </a:r>
          </a:p>
        </p:txBody>
      </p:sp>
      <p:sp>
        <p:nvSpPr>
          <p:cNvPr id="161" name="Row7Bg"/>
          <p:cNvSpPr/>
          <p:nvPr/>
        </p:nvSpPr>
        <p:spPr>
          <a:xfrm>
            <a:off x="274320" y="4638000"/>
            <a:ext cx="8595360" cy="4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2" name="R7Tag"/>
          <p:cNvSpPr/>
          <p:nvPr/>
        </p:nvSpPr>
        <p:spPr>
          <a:xfrm>
            <a:off x="320040" y="4638000"/>
            <a:ext cx="68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</a:rPr>
              <a:t>A7</a:t>
            </a:r>
          </a:p>
        </p:txBody>
      </p:sp>
      <p:sp>
        <p:nvSpPr>
          <p:cNvPr id="163" name="R7Cat"/>
          <p:cNvSpPr/>
          <p:nvPr/>
        </p:nvSpPr>
        <p:spPr>
          <a:xfrm>
            <a:off x="1050000" y="4638000"/>
            <a:ext cx="185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</a:rPr>
              <a:t>Access Control</a:t>
            </a:r>
          </a:p>
        </p:txBody>
      </p:sp>
      <p:sp>
        <p:nvSpPr>
          <p:cNvPr id="164" name="R7Desc"/>
          <p:cNvSpPr/>
          <p:nvPr/>
        </p:nvSpPr>
        <p:spPr>
          <a:xfrm>
            <a:off x="2950000" y="4638000"/>
            <a:ext cx="587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</a:rPr>
              <a:t>The Ministry administrator holds full database privileges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Agricultural Services Database</dc:title>
  <dc:subject>PptxGenJS Presentation</dc:subject>
  <dc:creator>PptxGenJS</dc:creator>
  <cp:lastModifiedBy>PptxGenJS</cp:lastModifiedBy>
  <cp:revision>1</cp:revision>
  <dcterms:created xsi:type="dcterms:W3CDTF">2026-04-11T17:41:10Z</dcterms:created>
  <dcterms:modified xsi:type="dcterms:W3CDTF">2026-04-11T17:41:10Z</dcterms:modified>
</cp:coreProperties>
</file>